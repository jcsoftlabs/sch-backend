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E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389120"/>
            <a:ext cx="8915400" cy="75438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"/>
            <a:ext cx="292608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943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3E58"/>
                </a:solidFill>
              </a:rPr>
              <a:t>SANTÉ NUMÉRIQUE · HAÏTI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Connectée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Haïti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914400" cy="41148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17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30175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Proposition de Projet · Phase Pilote 12 Mois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Zones Rurales et Enclavées d'Haïti  ·  Budget : 19 000 USD  ·  300 ASCP ciblés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3E58"/>
          </a:solidFill>
          <a:ln w="12700">
            <a:solidFill>
              <a:srgbClr val="023E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JUSTIFICATION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65176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630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Accessibilité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97280" y="2606040"/>
            <a:ext cx="109728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606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&gt;60%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2004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 la population rurale vit à plus de 5 km d'un centre de santé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54680" y="12801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1280160"/>
            <a:ext cx="2651760" cy="10972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5468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Suivi Médical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3931920" y="2606040"/>
            <a:ext cx="1097280" cy="502920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931920" y="2606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Papier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291840" y="32004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L'archivage papier rend le suivi précaire et la transmission épidémiologique lente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989320" y="128016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989320" y="1280160"/>
            <a:ext cx="265176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46304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98932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Isolement Agents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6766560" y="2606040"/>
            <a:ext cx="109728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766560" y="2606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Terrain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126480" y="32004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Les ASCP manquent souvent de support clinique immédiat pour les cas complexes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3E58"/>
                </a:solidFill>
              </a:rPr>
              <a:t>💡  L'omniprésence du téléphone mobile, même en zone reculée, offre une opportunité unique de transformation.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3E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200400"/>
            <a:ext cx="2926080" cy="292608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731520"/>
            <a:ext cx="2286000" cy="22860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0" y="18288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OBJECTIF GÉNÉRAL — Améliorer l'accès et la qualité des soins primaires via une plateforme de santé numérique intégrée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3931920" cy="1188720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65960"/>
            <a:ext cx="502920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E58"/>
                </a:solidFill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057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Digitalisation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5 000 dossiers patients numériques dès la 1ère année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965960"/>
            <a:ext cx="3931920" cy="1188720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965960"/>
            <a:ext cx="502920" cy="11887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9659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E58"/>
                </a:solidFill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2057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Appui Clinique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242316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Téléconsultation asynchrone pour 300 agents de santé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3931920" cy="1188720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6EB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83280"/>
            <a:ext cx="502920" cy="1188720"/>
          </a:xfrm>
          <a:prstGeom prst="rect">
            <a:avLst/>
          </a:prstGeom>
          <a:solidFill>
            <a:srgbClr val="6EB5C0"/>
          </a:solidFill>
          <a:ln w="12700">
            <a:solidFill>
              <a:srgbClr val="6EB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832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E58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474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Info Sanitaire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8404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200+ structures dans un annuaire SMS dynamique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3383280"/>
            <a:ext cx="3931920" cy="1188720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F18F0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3383280"/>
            <a:ext cx="502920" cy="11887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33832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E58"/>
                </a:solidFill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3474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Efficience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38404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30% de réduction des déplacements inutiles vers les hôpitaux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3E58"/>
          </a:solidFill>
          <a:ln w="12700">
            <a:solidFill>
              <a:srgbClr val="023E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TECHNIQUE DE LA 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70048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2670048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298448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ASCP-Connect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97280" y="173736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Application Mobile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2514600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088" y="24231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Mode déconnecté (offline)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3017520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" y="29260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Dossiers médicaux numériques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3520440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" y="34290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Suivi santé maternelle &amp; infantile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4023360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" y="39319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Alertes automatiques rendez-vous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154680" y="1234440"/>
            <a:ext cx="2670048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154680" y="1234440"/>
            <a:ext cx="2670048" cy="105156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417320"/>
            <a:ext cx="502920" cy="5029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931920" y="1298448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Passerelle SMS/WhatsApp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931920" y="173736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Télémédecine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383280" y="2514600"/>
            <a:ext cx="54864" cy="20116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538728" y="24231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Interface sécurisée terrain-médecin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383280" y="3017520"/>
            <a:ext cx="54864" cy="20116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538728" y="29260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Envoi de descriptions de symptômes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383280" y="3520440"/>
            <a:ext cx="54864" cy="20116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538728" y="34290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Réponse structurée + protocole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383280" y="4023360"/>
            <a:ext cx="54864" cy="20116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538728" y="39319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Ordres de référence urgente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5989320" y="1234440"/>
            <a:ext cx="2670048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5989320" y="1234440"/>
            <a:ext cx="2670048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502920" cy="5029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766560" y="1298448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Tableau de Bord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6766560" y="1737360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Monitoring MSPP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217920" y="2514600"/>
            <a:ext cx="54864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373368" y="24231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Cartographie maladies en temps réel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6217920" y="3017520"/>
            <a:ext cx="54864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373368" y="29260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Performances agents sur le terrain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217920" y="3520440"/>
            <a:ext cx="54864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373368" y="34290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Disponibilité des services de santé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6217920" y="4023360"/>
            <a:ext cx="54864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373368" y="39319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Visualisation épidémiologique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2990088" y="3246120"/>
            <a:ext cx="4114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46" name="Shape 41"/>
          <p:cNvSpPr/>
          <p:nvPr/>
        </p:nvSpPr>
        <p:spPr>
          <a:xfrm>
            <a:off x="5824728" y="3246120"/>
            <a:ext cx="4114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3E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914400"/>
            <a:ext cx="2560320" cy="256032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MISE EN ŒUVRE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1371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8412480" cy="9144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48840"/>
            <a:ext cx="6858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548640" cy="54864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3E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3E58"/>
                </a:solidFill>
              </a:rPr>
              <a:t>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0" cy="9144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2432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Mois 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97280" y="2148840"/>
            <a:ext cx="1783080" cy="457200"/>
          </a:xfrm>
          <a:prstGeom prst="rect">
            <a:avLst/>
          </a:prstGeom>
          <a:solidFill>
            <a:srgbClr val="02A39A"/>
          </a:solidFill>
          <a:ln w="12700">
            <a:solidFill>
              <a:srgbClr val="02A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1508760"/>
            <a:ext cx="548640" cy="548640"/>
          </a:xfrm>
          <a:prstGeom prst="ellipse">
            <a:avLst/>
          </a:prstGeom>
          <a:solidFill>
            <a:srgbClr val="02A39A"/>
          </a:solidFill>
          <a:ln w="25400">
            <a:solidFill>
              <a:srgbClr val="023E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3E58"/>
                </a:solidFill>
              </a:rPr>
              <a:t>II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0" y="2057400"/>
            <a:ext cx="0" cy="91440"/>
          </a:xfrm>
          <a:prstGeom prst="line">
            <a:avLst/>
          </a:prstGeom>
          <a:noFill/>
          <a:ln w="19050">
            <a:solidFill>
              <a:srgbClr val="02A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6243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Mois 2-4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0" y="2148840"/>
            <a:ext cx="14173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1508760"/>
            <a:ext cx="548640" cy="54864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23E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3E58"/>
                </a:solidFill>
              </a:rPr>
              <a:t>III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2057400"/>
            <a:ext cx="0" cy="9144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26243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Mois 5-6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89120" y="2148840"/>
            <a:ext cx="141732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508760"/>
            <a:ext cx="548640" cy="548640"/>
          </a:xfrm>
          <a:prstGeom prst="ellipse">
            <a:avLst/>
          </a:prstGeom>
          <a:solidFill>
            <a:srgbClr val="F18F01"/>
          </a:solidFill>
          <a:ln w="25400">
            <a:solidFill>
              <a:srgbClr val="023E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3E58"/>
                </a:solidFill>
              </a:rPr>
              <a:t>IV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2057400"/>
            <a:ext cx="0" cy="91440"/>
          </a:xfrm>
          <a:prstGeom prst="line">
            <a:avLst/>
          </a:prstGeom>
          <a:noFill/>
          <a:ln w="19050">
            <a:solidFill>
              <a:srgbClr val="F18F0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26243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Mois 7-8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52160" y="2148840"/>
            <a:ext cx="2514600" cy="457200"/>
          </a:xfrm>
          <a:prstGeom prst="rect">
            <a:avLst/>
          </a:prstGeom>
          <a:solidFill>
            <a:srgbClr val="E87D00"/>
          </a:solidFill>
          <a:ln w="12700">
            <a:solidFill>
              <a:srgbClr val="E87D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1508760"/>
            <a:ext cx="548640" cy="548640"/>
          </a:xfrm>
          <a:prstGeom prst="ellipse">
            <a:avLst/>
          </a:prstGeom>
          <a:solidFill>
            <a:srgbClr val="E87D00"/>
          </a:solidFill>
          <a:ln w="25400">
            <a:solidFill>
              <a:srgbClr val="023E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3E58"/>
                </a:solidFill>
              </a:rPr>
              <a:t>V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32320" y="2057400"/>
            <a:ext cx="0" cy="91440"/>
          </a:xfrm>
          <a:prstGeom prst="line">
            <a:avLst/>
          </a:prstGeom>
          <a:noFill/>
          <a:ln w="19050">
            <a:solidFill>
              <a:srgbClr val="E87D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2624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Mois 9-12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3108960"/>
            <a:ext cx="6400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1480" y="31089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</a:rPr>
              <a:t>Conception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02920" y="3566160"/>
            <a:ext cx="457200" cy="0"/>
          </a:xfrm>
          <a:prstGeom prst="line">
            <a:avLst/>
          </a:prstGeom>
          <a:noFill/>
          <a:ln w="635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3611880"/>
            <a:ext cx="6035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Analyse des besoins, prototypage et validation MSPP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143000" y="3108960"/>
            <a:ext cx="173736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A39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143000" y="3108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A39A"/>
                </a:solidFill>
              </a:rPr>
              <a:t>Développement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234440" y="3566160"/>
            <a:ext cx="1554480" cy="0"/>
          </a:xfrm>
          <a:prstGeom prst="line">
            <a:avLst/>
          </a:prstGeom>
          <a:noFill/>
          <a:ln w="6350">
            <a:solidFill>
              <a:srgbClr val="02A39A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61288" y="361188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Programmation App, API SMS et sécurisation des serveurs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971800" y="3108960"/>
            <a:ext cx="137160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97180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Déploiement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063240" y="3566160"/>
            <a:ext cx="1188720" cy="0"/>
          </a:xfrm>
          <a:prstGeom prst="line">
            <a:avLst/>
          </a:prstGeom>
          <a:noFill/>
          <a:ln w="635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90088" y="3611880"/>
            <a:ext cx="13350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Cartographie des centres de santé, formation 300 ASCP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434840" y="3108960"/>
            <a:ext cx="137160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18F01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43484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8F01"/>
                </a:solidFill>
              </a:rPr>
              <a:t>Pilote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26280" y="3566160"/>
            <a:ext cx="1188720" cy="0"/>
          </a:xfrm>
          <a:prstGeom prst="line">
            <a:avLst/>
          </a:prstGeom>
          <a:noFill/>
          <a:ln w="6350">
            <a:solidFill>
              <a:srgbClr val="F18F01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53128" y="3611880"/>
            <a:ext cx="13350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Lancement dans 3 communes tests, ajustements terrain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897880" y="3108960"/>
            <a:ext cx="24688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87D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89788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7D00"/>
                </a:solidFill>
              </a:rPr>
              <a:t>Mise à l'Échelle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989320" y="3566160"/>
            <a:ext cx="2286000" cy="0"/>
          </a:xfrm>
          <a:prstGeom prst="line">
            <a:avLst/>
          </a:prstGeom>
          <a:noFill/>
          <a:ln w="6350">
            <a:solidFill>
              <a:srgbClr val="E87D00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16168" y="3611880"/>
            <a:ext cx="24323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Extension du service, transfert de données aux instances nationales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3E58"/>
          </a:solidFill>
          <a:ln w="12700">
            <a:solidFill>
              <a:srgbClr val="023E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PRÉVISIONNEL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Total : 19 000 USD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713232"/>
          </a:xfrm>
          <a:prstGeom prst="rect">
            <a:avLst/>
          </a:prstGeom>
          <a:solidFill>
            <a:srgbClr val="EBF5F8"/>
          </a:solidFill>
          <a:ln w="12700">
            <a:solidFill>
              <a:srgbClr val="EBF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Développement Logiciel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184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App Android/iOS, Plateforme Web, Sécurisation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697480" y="1389888"/>
            <a:ext cx="475488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38988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32%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9520" y="138988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$6,000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03911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Infrastructures &amp; Matériel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15 tablettes/téléphones durcis, kits solaires, serveurs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697480" y="2148840"/>
            <a:ext cx="356616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214884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24%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89520" y="214884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$4,500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752344"/>
            <a:ext cx="8412480" cy="713232"/>
          </a:xfrm>
          <a:prstGeom prst="rect">
            <a:avLst/>
          </a:prstGeom>
          <a:solidFill>
            <a:srgbClr val="EBF5F8"/>
          </a:solidFill>
          <a:ln w="12700">
            <a:solidFill>
              <a:srgbClr val="EBF5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9806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Formation &amp; Capacitation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1363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Ateliers de formation pour agents et médecins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697480" y="2907792"/>
            <a:ext cx="3169920" cy="402336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2907792"/>
            <a:ext cx="3078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21%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0" y="290779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$4,000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55701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Opérations &amp; Logistique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9534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Collecte de données terrain, frais de transport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697480" y="3666744"/>
            <a:ext cx="2377440" cy="402336"/>
          </a:xfrm>
          <a:prstGeom prst="rect">
            <a:avLst/>
          </a:prstGeom>
          <a:solidFill>
            <a:srgbClr val="6EB5C0"/>
          </a:solidFill>
          <a:ln w="12700">
            <a:solidFill>
              <a:srgbClr val="6EB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366674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16%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89520" y="366674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$3,000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270248"/>
            <a:ext cx="8412480" cy="713232"/>
          </a:xfrm>
          <a:prstGeom prst="rect">
            <a:avLst/>
          </a:prstGeom>
          <a:solidFill>
            <a:srgbClr val="EBF5F8"/>
          </a:solidFill>
          <a:ln w="12700">
            <a:solidFill>
              <a:srgbClr val="EBF5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159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Maintenance &amp; Support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65429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Maintenance technique et serveurs (12 mois)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697480" y="4425696"/>
            <a:ext cx="1188720" cy="402336"/>
          </a:xfrm>
          <a:prstGeom prst="rect">
            <a:avLst/>
          </a:prstGeom>
          <a:solidFill>
            <a:srgbClr val="A8D5E2"/>
          </a:solidFill>
          <a:ln w="12700">
            <a:solidFill>
              <a:srgbClr val="A8D5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442569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89520" y="442569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$1,500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5120640"/>
            <a:ext cx="8412480" cy="594360"/>
          </a:xfrm>
          <a:prstGeom prst="rect">
            <a:avLst/>
          </a:prstGeom>
          <a:solidFill>
            <a:srgbClr val="023E58"/>
          </a:solidFill>
          <a:ln w="12700">
            <a:solidFill>
              <a:srgbClr val="023E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1206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468880" y="512064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$19,000 USD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3E58"/>
          </a:solidFill>
          <a:ln w="12700">
            <a:solidFill>
              <a:srgbClr val="023E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PÉRENNITÉ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3931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10972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6187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5 000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28800" y="12618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Dossiers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691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patients numérisés dès la 1ère année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3931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188720"/>
            <a:ext cx="109728" cy="114300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18F01"/>
                </a:solidFill>
              </a:rPr>
              <a:t>300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80760" y="12618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ASCP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1691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formés et assistés via téléconsultation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514600"/>
            <a:ext cx="3931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514600"/>
            <a:ext cx="109728" cy="1143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8775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30%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828800" y="2587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Réduction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3017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des déplacements inutiles vers hôpitaux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2514600"/>
            <a:ext cx="3931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2514600"/>
            <a:ext cx="10972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587752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200+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080760" y="25877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Structures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80760" y="3017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 santé dans l'annuaire SMS dynamique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7673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</a:rPr>
              <a:t>PILIERS DE PÉRENNITÉ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160520"/>
            <a:ext cx="26517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4261104"/>
            <a:ext cx="347472" cy="34747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914400" y="416052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Transfert de technologie vers les serveurs du MSPP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154680" y="4160520"/>
            <a:ext cx="26517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4261104"/>
            <a:ext cx="347472" cy="34747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749040" y="416052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Renforcement humain durable des communautés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5989320" y="4160520"/>
            <a:ext cx="26517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4261104"/>
            <a:ext cx="347472" cy="34747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583680" y="4160520"/>
            <a:ext cx="1965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Partenariat Public-Privé : gratuité des flux SMS santé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3E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47472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SUCCÈS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0" y="1371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Slide 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7863840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73152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07008"/>
            <a:ext cx="530352" cy="53035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070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3E58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10972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Taux d'utilisation de l'application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4904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des agents formés utilisent activement l'application ASCP-Connect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0" y="1234440"/>
            <a:ext cx="1371600" cy="475488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2344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&gt; 80%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039112"/>
            <a:ext cx="7863840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18F0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39112"/>
            <a:ext cx="73152" cy="84124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194560"/>
            <a:ext cx="530352" cy="530352"/>
          </a:xfrm>
          <a:prstGeom prst="ellipse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94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3E58"/>
                </a:solidFill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08483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Références médicales effectuées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247802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Nombre de références via la plateforme télémédecine SMS/WhatsApp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0" y="2221992"/>
            <a:ext cx="1371600" cy="475488"/>
          </a:xfrm>
          <a:prstGeom prst="rect">
            <a:avLst/>
          </a:prstGeom>
          <a:solidFill>
            <a:srgbClr val="F18F01">
              <a:alpha val="80000"/>
            </a:srgbClr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22199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Suivi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026664"/>
            <a:ext cx="7863840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6EB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026664"/>
            <a:ext cx="73152" cy="841248"/>
          </a:xfrm>
          <a:prstGeom prst="rect">
            <a:avLst/>
          </a:prstGeom>
          <a:solidFill>
            <a:srgbClr val="6EB5C0"/>
          </a:solidFill>
          <a:ln w="12700">
            <a:solidFill>
              <a:srgbClr val="6EB5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182112"/>
            <a:ext cx="530352" cy="530352"/>
          </a:xfrm>
          <a:prstGeom prst="ellipse">
            <a:avLst/>
          </a:prstGeom>
          <a:solidFill>
            <a:srgbClr val="6EB5C0"/>
          </a:solidFill>
          <a:ln w="12700">
            <a:solidFill>
              <a:srgbClr val="6EB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821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3E58"/>
                </a:solidFill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307238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Satisfaction des bénéficiaires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46557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Niveau de satisfaction des patients et des agents de santé sur le terrain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83680" y="3209544"/>
            <a:ext cx="1371600" cy="475488"/>
          </a:xfrm>
          <a:prstGeom prst="rect">
            <a:avLst/>
          </a:prstGeom>
          <a:solidFill>
            <a:srgbClr val="6EB5C0">
              <a:alpha val="80000"/>
            </a:srgbClr>
          </a:solidFill>
          <a:ln w="12700">
            <a:solidFill>
              <a:srgbClr val="6EB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20954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Évalué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014216"/>
            <a:ext cx="7863840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014216"/>
            <a:ext cx="73152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169664"/>
            <a:ext cx="530352" cy="5303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169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3E58"/>
                </a:solidFill>
              </a:rPr>
              <a:t>04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88720" y="405993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Délai de prise en charge urgences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88720" y="44531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Réduction du temps moyen de prise en charge des urgences communautaires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83680" y="4197096"/>
            <a:ext cx="1371600" cy="47548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41970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Réduit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3E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3657600" cy="36576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731520"/>
            <a:ext cx="2743200" cy="50292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731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UN PONT VITAL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Haïti,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Sauver des Vies.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Le projet SCH s'aligne sur la Politique Nationale de Santé d'Haïti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et transforme chaque téléphone mobile en un pont vital vers le système de santé.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4480560"/>
            <a:ext cx="4572000" cy="73152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Santé Connectée Haïti  ·  SCH  ·  Phase Pilote 12 Mois  ·  19 000 USD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Santé Connectée Haïti (SCH)</dc:title>
  <dc:subject>PptxGenJS Presentation</dc:subject>
  <dc:creator>Santé Connectée Haïti</dc:creator>
  <cp:lastModifiedBy>Santé Connectée Haïti</cp:lastModifiedBy>
  <cp:revision>1</cp:revision>
  <dcterms:created xsi:type="dcterms:W3CDTF">2026-02-12T00:56:08Z</dcterms:created>
  <dcterms:modified xsi:type="dcterms:W3CDTF">2026-02-12T00:56:08Z</dcterms:modified>
</cp:coreProperties>
</file>